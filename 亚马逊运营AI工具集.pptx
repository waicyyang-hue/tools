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tools/unmet_demand_analyzer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tools/review_analysis.html" TargetMode="External"/><Relationship Id="rId3" Type="http://schemas.openxmlformats.org/officeDocument/2006/relationships/hyperlink" Target="tools/return_analysis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tools/PnL_Report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tools/article_weekly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1F5F9"/>
                </a:solidFill>
              </a:defRPr>
            </a:pPr>
            <a:r>
              <a:t>🛠️ 亚马逊运营 AI 工具集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463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按卖家生命周期阶段组织，覆盖从选品到成熟期的智能化运营工具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如有问题请联系 cyangb@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85800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18CF8"/>
                </a:solidFill>
              </a:defRPr>
            </a:pPr>
            <a:r>
              <a:t>点击下方各阶段卡片，即可跳转到对应工具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463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</a:defRPr>
            </a:pPr>
            <a:r>
              <a:t>🔍 选品调研期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Market Research &amp; Product Selection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>
          <a:xfrm>
            <a:off x="4114800" y="1828800"/>
            <a:ext cx="2926080" cy="2377440"/>
          </a:xfrm>
          <a:prstGeom prst="rect">
            <a:avLst/>
          </a:prstGeom>
          <a:solidFill>
            <a:srgbClr val="1E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828800"/>
            <a:ext cx="29260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2011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Unmet Demand 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3017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挖掘市场未被满足的需求</a:t>
            </a:r>
            <a:br/>
            <a:r>
              <a:t>发现蓝海机会与差异化方向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5B4FC"/>
                </a:solidFill>
              </a:defRPr>
            </a:pPr>
            <a:r>
              <a:t>#需求缺口  #市场机会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28800"/>
            <a:ext cx="2926080" cy="2377440"/>
          </a:xfrm>
          <a:prstGeom prst="rect">
            <a:avLst/>
          </a:prstGeom>
          <a:solidFill>
            <a:srgbClr val="1E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28800"/>
            <a:ext cx="29260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011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</a:defRPr>
            </a:pPr>
            <a:r>
              <a:t>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利润测算工具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3017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FBA费用、头程、关税</a:t>
            </a:r>
            <a:br/>
            <a:r>
              <a:t>一站式利润模拟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794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BBF24"/>
                </a:solidFill>
              </a:defRPr>
            </a:pPr>
            <a:r>
              <a:t>即将上线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463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</a:defRPr>
            </a:pPr>
            <a:r>
              <a:t>⚙️ 运营优化期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Operations &amp; Optimization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>
          <a:xfrm>
            <a:off x="4114800" y="1828800"/>
            <a:ext cx="2926080" cy="2377440"/>
          </a:xfrm>
          <a:prstGeom prst="rect">
            <a:avLst/>
          </a:prstGeom>
          <a:solidFill>
            <a:srgbClr val="1E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828800"/>
            <a:ext cx="292608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2011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</a:defRPr>
            </a:pPr>
            <a: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Review 智能分析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3017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AI解析客户评论，生成客户画像</a:t>
            </a:r>
            <a:br/>
            <a:r>
              <a:t>使用场景、未满足需求等洞察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5B4FC"/>
                </a:solidFill>
              </a:defRPr>
            </a:pPr>
            <a:r>
              <a:t>#客户画像  #使用场景  #需求洞察</a:t>
            </a:r>
          </a:p>
        </p:txBody>
      </p:sp>
      <p:sp>
        <p:nvSpPr>
          <p:cNvPr id="10" name="Rectangle 9">
            <a:hlinkClick r:id="rId3"/>
          </p:cNvPr>
          <p:cNvSpPr/>
          <p:nvPr/>
        </p:nvSpPr>
        <p:spPr>
          <a:xfrm>
            <a:off x="7589520" y="1828800"/>
            <a:ext cx="2926080" cy="2377440"/>
          </a:xfrm>
          <a:prstGeom prst="rect">
            <a:avLst/>
          </a:prstGeom>
          <a:solidFill>
            <a:srgbClr val="1E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28800"/>
            <a:ext cx="292608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011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</a:defRPr>
            </a:pPr>
            <a: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退货率分析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3017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深度分析退货原因</a:t>
            </a:r>
            <a:br/>
            <a:r>
              <a:t>定位产品质量与listing描述问题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5B4FC"/>
                </a:solidFill>
              </a:defRPr>
            </a:pPr>
            <a:r>
              <a:t>#退货原因  #质量追踪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463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</a:defRPr>
            </a:pPr>
            <a:r>
              <a:t>📈 增长盈利期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Growth &amp; Profitability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>
          <a:xfrm>
            <a:off x="2286000" y="1828800"/>
            <a:ext cx="2926080" cy="2377440"/>
          </a:xfrm>
          <a:prstGeom prst="rect">
            <a:avLst/>
          </a:prstGeom>
          <a:solidFill>
            <a:srgbClr val="1E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1828800"/>
            <a:ext cx="292608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011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</a:defRPr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PNL 损益分析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3017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全链路损益分析</a:t>
            </a:r>
            <a:br/>
            <a:r>
              <a:t>含ACOS预警、超龄库存预警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5B4FC"/>
                </a:solidFill>
              </a:defRPr>
            </a:pPr>
            <a:r>
              <a:t>#损益分析  #ACOS预警  #库存预警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828800"/>
            <a:ext cx="2926080" cy="2377440"/>
          </a:xfrm>
          <a:prstGeom prst="rect">
            <a:avLst/>
          </a:prstGeom>
          <a:solidFill>
            <a:srgbClr val="1E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828800"/>
            <a:ext cx="292608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</a:defRPr>
            </a:pPr>
            <a: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备货及库存分析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017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智能备货建议、库存周转分析</a:t>
            </a:r>
            <a:br/>
            <a:r>
              <a:t>断货风险预警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794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BBF24"/>
                </a:solidFill>
              </a:defRPr>
            </a:pPr>
            <a:r>
              <a:t>即将上线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1828800"/>
            <a:ext cx="2926080" cy="2377440"/>
          </a:xfrm>
          <a:prstGeom prst="rect">
            <a:avLst/>
          </a:prstGeom>
          <a:solidFill>
            <a:srgbClr val="1E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18320" y="1828800"/>
            <a:ext cx="292608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011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</a:defRPr>
            </a:pPr>
            <a: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广告优化助手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017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智能分析广告数据</a:t>
            </a:r>
            <a:br/>
            <a:r>
              <a:t>自动生成优化建议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794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BBF24"/>
                </a:solidFill>
              </a:defRPr>
            </a:pPr>
            <a:r>
              <a:t>即将上线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463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</a:defRPr>
            </a:pPr>
            <a:r>
              <a:t>🏆 品牌与内容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Brand Building &amp; Content Marketing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>
          <a:xfrm>
            <a:off x="5852160" y="1828800"/>
            <a:ext cx="2926080" cy="2377440"/>
          </a:xfrm>
          <a:prstGeom prst="rect">
            <a:avLst/>
          </a:prstGeom>
          <a:solidFill>
            <a:srgbClr val="1E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1828800"/>
            <a:ext cx="2926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2011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</a:defRPr>
            </a:pPr>
            <a:r>
              <a:t>✍️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公众号爆文周推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3017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AI筛选行业热文</a:t>
            </a:r>
            <a:br/>
            <a:r>
              <a:t>每周精选推荐，助力内容营销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5B4FC"/>
                </a:solidFill>
              </a:defRPr>
            </a:pPr>
            <a:r>
              <a:t>#内容营销  #热文精选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